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ms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419100"/>
            <a:ext cx="1181100" cy="1181100"/>
          </a:xfrm>
          <a:prstGeom prst="rect">
            <a:avLst/>
          </a:prstGeom>
        </p:spPr>
      </p:pic>
      <p:pic>
        <p:nvPicPr>
          <p:cNvPr id="4" name="Picture 3" descr="ucsd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275" y="685800"/>
            <a:ext cx="3400425" cy="647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247900"/>
            <a:ext cx="97155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Helvetica Neue"/>
              </a:rPr>
              <a:t>SPAtop Update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300" y="3733800"/>
            <a:ext cx="1257300" cy="57150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3962400"/>
            <a:ext cx="89535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C8D4E2"/>
                </a:solidFill>
                <a:latin typeface="Helvetica Neue"/>
              </a:rPr>
              <a:t>Sweep verdict · bigger training set · first four-top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5715000"/>
            <a:ext cx="9525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8FA3BA"/>
                </a:solidFill>
                <a:latin typeface="Helvetica Neue"/>
              </a:rPr>
              <a:t>Daniel Primosch   ·   UC San Diego   ·   13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668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450" y="15049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Sweep decided: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pairwise attention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, at 4× fewer parameters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050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3450" y="19431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Class reweighting and the legacy config: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both negative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5431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450" y="23812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Bigger dataset: fully-resolved tops correctly assigned,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26% → 55%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813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450" y="28194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New 15M four-top sample: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pairwise wins decisively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Pairwise attention wins the sweep at a quarter of the model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543050"/>
          <a:ext cx="10820400" cy="1085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/>
                <a:gridCol w="2705100"/>
                <a:gridCol w="2705100"/>
                <a:gridCol w="2705100"/>
              </a:tblGrid>
              <a:tr h="36195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sweep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winner ID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params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best val_avg_jet_acc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82B49"/>
                          </a:solidFill>
                          <a:latin typeface="Helvetica Neue"/>
                        </a:rPr>
                        <a:t>vanilla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g2vc1w2g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21.2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0.4124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Helvetica Neue"/>
                        </a:rPr>
                        <a:t>pairwise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gs8pex8v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5.3 M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0.4293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29622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003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Winner is the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smallest model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 in the pool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004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3450" y="32385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Ranking robust to metric choice (ρ ≥ 0.97)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385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450" y="36766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v1 sweeps optimised a metric that was structurally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NaN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2767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450" y="41148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Random search: not a like-for-like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Class reweighting and the legacy config both hurt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543050"/>
          <a:ext cx="108204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36195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arm (fixed data, same test set)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FR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SRqq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FB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event purity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Helvetica Neue"/>
                        </a:rPr>
                        <a:t>pairwise winner config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26.0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71.3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99.7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37.2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82B49"/>
                          </a:solidFill>
                          <a:latin typeface="Helvetica Neue"/>
                        </a:rPr>
                        <a:t>+ balance_particles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1.6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44.2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99.7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15.2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82B49"/>
                          </a:solidFill>
                          <a:latin typeface="Helvetica Neue"/>
                        </a:rPr>
                        <a:t>legacy SPANet-paper config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5.1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36.6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96.2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14.6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33242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31623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FB is already ~100% findable, so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nothing to gain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623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3450" y="36004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Downweighted FR classes (67% of events) collapse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076700"/>
            <a:ext cx="10820400" cy="1619250"/>
          </a:xfrm>
          <a:prstGeom prst="rect">
            <a:avLst/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076700"/>
            <a:ext cx="47625" cy="1619250"/>
          </a:xfrm>
          <a:prstGeom prst="rect">
            <a:avLst/>
          </a:prstGeom>
          <a:solidFill>
            <a:srgbClr val="006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50" y="4152900"/>
            <a:ext cx="10401300" cy="247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00629B"/>
                </a:solidFill>
                <a:latin typeface="Helvetica Neue"/>
              </a:rPr>
              <a:t>LEGACY DIFFERS ON EVERY REGULARISATION KNOB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95350" y="4381500"/>
          <a:ext cx="10401300" cy="1238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100"/>
                <a:gridCol w="3467100"/>
                <a:gridCol w="3467100"/>
              </a:tblGrid>
              <a:tr h="24765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629B"/>
                          </a:solidFill>
                          <a:latin typeface="Helvetica Neue"/>
                        </a:rPr>
                        <a:t>best vanilla (g2vc1w2g)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629B"/>
                          </a:solidFill>
                          <a:latin typeface="Helvetica Neue"/>
                        </a:rPr>
                        <a:t>legacy (SPANet paper)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82B49"/>
                          </a:solidFill>
                          <a:latin typeface="Helvetica Neue"/>
                        </a:rPr>
                        <a:t>learning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4.7e-4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1.5e-3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82B49"/>
                          </a:solidFill>
                          <a:latin typeface="Helvetica Neue"/>
                        </a:rPr>
                        <a:t>dropout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0.24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82B49"/>
                          </a:solidFill>
                          <a:latin typeface="Helvetica Neue"/>
                        </a:rPr>
                        <a:t>gradient clip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82B49"/>
                          </a:solidFill>
                          <a:latin typeface="Helvetica Neue"/>
                        </a:rPr>
                        <a:t>balance_particles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Correction: our earlier per-topology numbers were slot-ordered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4</a:t>
            </a:r>
          </a:p>
        </p:txBody>
      </p:sp>
      <p:pic>
        <p:nvPicPr>
          <p:cNvPr id="9" name="Picture 8" descr="accuracy_by_topology_permf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24405"/>
            <a:ext cx="6057900" cy="296163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62800" y="17621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10450" y="1600200"/>
            <a:ext cx="4095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FB is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~99.7%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 reconstructed, not the 50% we showed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2800" y="22002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10450" y="2038350"/>
            <a:ext cx="4095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SRqq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71.3%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 for both architectures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62800" y="26384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450" y="2476500"/>
            <a:ext cx="4095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FR 26.0 vs 25.0: the “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2× FR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” claim was slot ordering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The bigger training set nearly doubles fully-resolved reconstruction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543050"/>
          <a:ext cx="108204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/>
                <a:gridCol w="2705100"/>
                <a:gridCol w="2705100"/>
                <a:gridCol w="2705100"/>
              </a:tblGrid>
              <a:tr h="36195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model (evaluated on the trusted fixed test set)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FR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SRqq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FB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82B49"/>
                          </a:solidFill>
                          <a:latin typeface="Helvetica Neue"/>
                        </a:rPr>
                        <a:t>pairwise, fixed data, 864 k events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26.0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71.3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99.7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Helvetica Neue"/>
                        </a:rPr>
                        <a:t>pairwise, delphes v6, 15.4 M events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49.8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3.0 *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98.3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Helvetica Neue"/>
                        </a:rPr>
                        <a:t>vanilla, delphes v6, 15.4 M events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54.8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1.3 *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89.6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33242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31623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Group curves: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+10 pts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 resolved purity above 150 GeV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623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3450" y="36004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82B49"/>
                </a:solidFill>
                <a:latin typeface="Helvetica Neue"/>
              </a:rPr>
              <a:t>3 to 6×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 the high-pT efficiency (0.6 vs 0.05 at 300 GeV)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2005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450" y="40386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* SRqq needs a fix, see next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v6's SRqq failure is decoder eviction, not bad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6</a:t>
            </a:r>
          </a:p>
        </p:txBody>
      </p:sp>
      <p:pic>
        <p:nvPicPr>
          <p:cNvPr id="9" name="Picture 8" descr="v6_srqq_proof_evi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09012"/>
            <a:ext cx="6057900" cy="3392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62800" y="17621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10450" y="1600200"/>
            <a:ext cx="4095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v6 SRqq labels are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~89% physically correct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2800" y="22002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10450" y="2038350"/>
            <a:ext cx="4095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But the b-jet is double-booked with FR in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~100%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 of targets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62800" y="26384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450" y="2476500"/>
            <a:ext cx="4095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SPANet's decoder is globally exclusive, so SRqq is evicted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2800" y="30765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0450" y="2914650"/>
            <a:ext cx="4095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Same effect costs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17.4%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 on our current fixed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In t̄t the attention bias is a sample-efficiency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543050"/>
          <a:ext cx="10820400" cy="1085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/>
                <a:gridCol w="3606800"/>
                <a:gridCol w="3606800"/>
              </a:tblGrid>
              <a:tr h="36195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FR reconstruction, slot-order-free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864 k events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15.4 M events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82B49"/>
                          </a:solidFill>
                          <a:latin typeface="Helvetica Neue"/>
                        </a:rPr>
                        <a:t>vanilla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25.0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54.8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82B49"/>
                          </a:solidFill>
                          <a:latin typeface="Helvetica Neue"/>
                        </a:rPr>
                        <a:t>pairwise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26.0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49.8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29622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003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Pairwise leads narrowly at small data,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4× parameter efficiency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004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3450" y="32385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Vanilla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wins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 at 15.4 M events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385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450" y="36766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Standard analysis: architectures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equivalent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 at scale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After the standard selection the two t̄t architectures are equivalent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8</a:t>
            </a:r>
          </a:p>
        </p:txBody>
      </p:sp>
      <p:pic>
        <p:nvPicPr>
          <p:cNvPr id="9" name="Picture 8" descr="SPAtop2x2_resolv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" y="1835150"/>
            <a:ext cx="10820400" cy="3606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753100"/>
            <a:ext cx="108204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7A8A"/>
                </a:solidFill>
                <a:latin typeface="Helvetica Neue"/>
              </a:rPr>
              <a:t>Resolved tops. Left: purity vs reconstructed pT. Right: efficiency vs generated 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In four tops, pairwise wins decisively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543050"/>
          <a:ext cx="10820400" cy="1085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400"/>
                <a:gridCol w="1803400"/>
                <a:gridCol w="1803400"/>
                <a:gridCol w="1803400"/>
                <a:gridCol w="1803400"/>
                <a:gridCol w="1803400"/>
              </a:tblGrid>
              <a:tr h="36195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tttt, 1.63 M training events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FR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SRqq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FB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event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val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82B49"/>
                          </a:solidFill>
                          <a:latin typeface="Helvetica Neue"/>
                        </a:rPr>
                        <a:t>vanilla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15.4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43.6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99.8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29.0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0.4046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Helvetica Neue"/>
                        </a:rPr>
                        <a:t>pairwise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28.4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52.9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99.8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35.2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0.4558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29622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8003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SRqq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+9.3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, event-level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+6.2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004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3450" y="32385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Group's own metric agrees: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~2× purity and 2 to 3×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52850"/>
            <a:ext cx="1082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0629B"/>
                </a:solidFill>
                <a:latin typeface="Helvetica Neue"/>
              </a:rPr>
              <a:t>FR +13.0 points, an 84% relative improvement.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Standard selection confirms it: pairwise doubles resolved purity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10</a:t>
            </a:r>
          </a:p>
        </p:txBody>
      </p:sp>
      <p:pic>
        <p:nvPicPr>
          <p:cNvPr id="9" name="Picture 8" descr="SPAtop_tttt15M_resolv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" y="1835150"/>
            <a:ext cx="10820400" cy="3606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753100"/>
            <a:ext cx="108204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7A8A"/>
                </a:solidFill>
                <a:latin typeface="Helvetica Neue"/>
              </a:rPr>
              <a:t>Four-top resolved tops, 100 k-event test subsample.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The advantage holds across all four-top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11</a:t>
            </a:r>
          </a:p>
        </p:txBody>
      </p:sp>
      <p:pic>
        <p:nvPicPr>
          <p:cNvPr id="9" name="Picture 8" descr="SPAtop_tttt15M_merg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" y="1835150"/>
            <a:ext cx="10820400" cy="3606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753100"/>
            <a:ext cx="108204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7A8A"/>
                </a:solidFill>
                <a:latin typeface="Helvetica Neue"/>
              </a:rPr>
              <a:t>All categories combined, four tops.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And the advantage grows with data, the opposite of t̄t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543050"/>
          <a:ext cx="10820400" cy="1085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/>
                <a:gridCol w="3606800"/>
                <a:gridCol w="3606800"/>
              </a:tblGrid>
              <a:tr h="36195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FR gap, pairwise − vanilla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t̄t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tttt</a:t>
                      </a:r>
                    </a:p>
                  </a:txBody>
                  <a:tcPr anchor="ctr">
                    <a:solidFill>
                      <a:srgbClr val="182B4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82B49"/>
                          </a:solidFill>
                          <a:latin typeface="Helvetica Neue"/>
                        </a:rPr>
                        <a:t>small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+1.0  (864 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C3A"/>
                          </a:solidFill>
                          <a:latin typeface="Consolas"/>
                        </a:rPr>
                        <a:t>+3.3  (10.9 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Helvetica Neue"/>
                        </a:rPr>
                        <a:t>large data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−5.0  (15.4 M)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82B49"/>
                          </a:solidFill>
                          <a:latin typeface="Consolas"/>
                        </a:rPr>
                        <a:t>+13.0  (1.63 M)</a:t>
                      </a:r>
                    </a:p>
                  </a:txBody>
                  <a:tcPr anchor="ctr">
                    <a:solidFill>
                      <a:srgbClr val="FFCD0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2838450"/>
            <a:ext cx="10820400" cy="51435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50" y="2933700"/>
            <a:ext cx="104013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0" i="1">
                <a:solidFill>
                  <a:srgbClr val="182B49"/>
                </a:solidFill>
                <a:latin typeface="Georgia"/>
              </a:rPr>
              <a:t>H</a:t>
            </a:r>
            <a:r>
              <a:rPr sz="1178" b="0" i="1" baseline="-25000">
                <a:solidFill>
                  <a:srgbClr val="182B49"/>
                </a:solidFill>
                <a:latin typeface="Georgia"/>
              </a:rPr>
              <a:t>T</a:t>
            </a:r>
            <a:r>
              <a:rPr sz="1900" b="0" i="0">
                <a:solidFill>
                  <a:srgbClr val="182B49"/>
                </a:solidFill>
                <a:latin typeface="Georgia"/>
              </a:rPr>
              <a:t>(</a:t>
            </a:r>
            <a:r>
              <a:rPr sz="1900" b="0" i="1">
                <a:solidFill>
                  <a:srgbClr val="182B49"/>
                </a:solidFill>
                <a:latin typeface="Georgia"/>
              </a:rPr>
              <a:t>N</a:t>
            </a:r>
            <a:r>
              <a:rPr sz="1900" b="0" i="0">
                <a:solidFill>
                  <a:srgbClr val="182B49"/>
                </a:solidFill>
                <a:latin typeface="Georgia"/>
              </a:rPr>
              <a:t>) = </a:t>
            </a:r>
            <a:r>
              <a:rPr sz="1900" b="0" i="1">
                <a:solidFill>
                  <a:srgbClr val="182B49"/>
                </a:solidFill>
                <a:latin typeface="Georgia"/>
              </a:rPr>
              <a:t>N</a:t>
            </a:r>
            <a:r>
              <a:rPr sz="1900" b="0" i="0">
                <a:solidFill>
                  <a:srgbClr val="182B49"/>
                </a:solidFill>
                <a:latin typeface="Georgia"/>
              </a:rPr>
              <a:t>! / [ (</a:t>
            </a:r>
            <a:r>
              <a:rPr sz="1900" b="0" i="1">
                <a:solidFill>
                  <a:srgbClr val="182B49"/>
                </a:solidFill>
                <a:latin typeface="Georgia"/>
              </a:rPr>
              <a:t>N</a:t>
            </a:r>
            <a:r>
              <a:rPr sz="1900" b="0" i="0">
                <a:solidFill>
                  <a:srgbClr val="182B49"/>
                </a:solidFill>
                <a:latin typeface="Georgia"/>
              </a:rPr>
              <a:t>−3</a:t>
            </a:r>
            <a:r>
              <a:rPr sz="1900" b="0" i="1">
                <a:solidFill>
                  <a:srgbClr val="182B49"/>
                </a:solidFill>
                <a:latin typeface="Georgia"/>
              </a:rPr>
              <a:t>T</a:t>
            </a:r>
            <a:r>
              <a:rPr sz="1900" b="0" i="0">
                <a:solidFill>
                  <a:srgbClr val="182B49"/>
                </a:solidFill>
                <a:latin typeface="Georgia"/>
              </a:rPr>
              <a:t>)! · 2</a:t>
            </a:r>
            <a:r>
              <a:rPr sz="1178" b="0" i="1" baseline="30000">
                <a:solidFill>
                  <a:srgbClr val="182B49"/>
                </a:solidFill>
                <a:latin typeface="Georgia"/>
              </a:rPr>
              <a:t>T</a:t>
            </a:r>
            <a:r>
              <a:rPr sz="1900" b="0" i="0">
                <a:solidFill>
                  <a:srgbClr val="182B49"/>
                </a:solidFill>
                <a:latin typeface="Georgia"/>
              </a:rPr>
              <a:t> · </a:t>
            </a:r>
            <a:r>
              <a:rPr sz="1900" b="0" i="1">
                <a:solidFill>
                  <a:srgbClr val="182B49"/>
                </a:solidFill>
                <a:latin typeface="Georgia"/>
              </a:rPr>
              <a:t>T</a:t>
            </a:r>
            <a:r>
              <a:rPr sz="1900" b="0" i="0">
                <a:solidFill>
                  <a:srgbClr val="182B49"/>
                </a:solidFill>
                <a:latin typeface="Georgia"/>
              </a:rPr>
              <a:t>! ]    assignments for </a:t>
            </a:r>
            <a:r>
              <a:rPr sz="1900" b="0" i="1">
                <a:solidFill>
                  <a:srgbClr val="182B49"/>
                </a:solidFill>
                <a:latin typeface="Georgia"/>
              </a:rPr>
              <a:t>T</a:t>
            </a:r>
            <a:r>
              <a:rPr sz="1900" b="0" i="0">
                <a:solidFill>
                  <a:srgbClr val="182B49"/>
                </a:solidFill>
                <a:latin typeface="Georgia"/>
              </a:rPr>
              <a:t> tops in </a:t>
            </a:r>
            <a:r>
              <a:rPr sz="1900" b="0" i="1">
                <a:solidFill>
                  <a:srgbClr val="182B49"/>
                </a:solidFill>
                <a:latin typeface="Georgia"/>
              </a:rPr>
              <a:t>N</a:t>
            </a:r>
            <a:r>
              <a:rPr sz="1900" b="0" i="0">
                <a:solidFill>
                  <a:srgbClr val="182B49"/>
                </a:solidFill>
                <a:latin typeface="Georgia"/>
              </a:rPr>
              <a:t> jets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67100"/>
            <a:ext cx="10820400" cy="1371600"/>
          </a:xfrm>
          <a:prstGeom prst="rect">
            <a:avLst/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467100"/>
            <a:ext cx="47625" cy="1371600"/>
          </a:xfrm>
          <a:prstGeom prst="rect">
            <a:avLst/>
          </a:prstGeom>
          <a:solidFill>
            <a:srgbClr val="006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50" y="3543300"/>
            <a:ext cx="10401300" cy="247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00629B"/>
                </a:solidFill>
                <a:latin typeface="Helvetica Neue"/>
              </a:rPr>
              <a:t>EVALUATED AT N = 3T + 4 JETS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95350" y="3771900"/>
          <a:ext cx="10401300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325"/>
                <a:gridCol w="2600325"/>
                <a:gridCol w="2600325"/>
                <a:gridCol w="2600325"/>
              </a:tblGrid>
              <a:tr h="24765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1">
                          <a:solidFill>
                            <a:srgbClr val="00629B"/>
                          </a:solidFill>
                          <a:latin typeface="Georgia"/>
                        </a:rPr>
                        <a:t>T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1">
                          <a:solidFill>
                            <a:srgbClr val="00629B"/>
                          </a:solidFill>
                          <a:latin typeface="Georgia"/>
                        </a:rPr>
                        <a:t>H</a:t>
                      </a:r>
                      <a:r>
                        <a:rPr sz="682" b="1" i="1" baseline="-25000">
                          <a:solidFill>
                            <a:srgbClr val="00629B"/>
                          </a:solidFill>
                          <a:latin typeface="Georgia"/>
                        </a:rPr>
                        <a:t>T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629B"/>
                          </a:solidFill>
                          <a:latin typeface="Helvetica Neue"/>
                        </a:rPr>
                        <a:t>label symmetry </a:t>
                      </a:r>
                      <a:r>
                        <a:rPr sz="1100" b="1" i="1">
                          <a:solidFill>
                            <a:srgbClr val="00629B"/>
                          </a:solidFill>
                          <a:latin typeface="Georgia"/>
                        </a:rPr>
                        <a:t>T</a:t>
                      </a:r>
                      <a:r>
                        <a:rPr sz="1100" b="1" i="0">
                          <a:solidFill>
                            <a:srgbClr val="00629B"/>
                          </a:solidFill>
                          <a:latin typeface="Helvetica Neue"/>
                        </a:rPr>
                        <a:t>!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82B49"/>
                          </a:solidFill>
                          <a:latin typeface="Helvetica Neue"/>
                        </a:rPr>
                        <a:t>t̄t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1.9×10</a:t>
                      </a:r>
                      <a:r>
                        <a:rPr sz="744" b="0" i="0" baseline="30000">
                          <a:solidFill>
                            <a:srgbClr val="222C3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82B49"/>
                          </a:solidFill>
                          <a:latin typeface="Helvetica Neue"/>
                        </a:rPr>
                        <a:t>tttt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2.3×10</a:t>
                      </a:r>
                      <a:r>
                        <a:rPr sz="744" b="0" i="0" baseline="30000">
                          <a:solidFill>
                            <a:srgbClr val="222C3A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82B49"/>
                          </a:solidFill>
                          <a:latin typeface="Helvetica Neue"/>
                        </a:rPr>
                        <a:t>t̄tt̄tt̄t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1.0×10</a:t>
                      </a:r>
                      <a:r>
                        <a:rPr sz="744" b="0" i="0" baseline="30000">
                          <a:solidFill>
                            <a:srgbClr val="222C3A"/>
                          </a:solidFill>
                          <a:latin typeface="Consolas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C3A"/>
                          </a:solidFill>
                          <a:latin typeface="Consolas"/>
                        </a:rPr>
                        <a:t>720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Recommendation: vanilla SPAtop for t̄t, pairwise for multi-top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668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450" y="15049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t̄t: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vanilla SPAtop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050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3450" y="19431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t̄tt̄t, t̄tt̄tt̄t: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pairwise attention SPAtop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5431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450" y="23812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82B49"/>
                </a:solidFill>
                <a:latin typeface="Helvetica Neue"/>
              </a:rPr>
              <a:t>First order improvements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: data for t̄t, architecture for tttt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What we need from this meeting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14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543050"/>
            <a:ext cx="323850" cy="323850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1524000"/>
            <a:ext cx="103251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82B49"/>
                </a:solidFill>
                <a:latin typeface="Helvetica Neue"/>
              </a:rPr>
              <a:t>v6 SRqq relabel</a:t>
            </a:r>
            <a:r>
              <a:rPr sz="1700" b="0" i="0">
                <a:solidFill>
                  <a:srgbClr val="222C3A"/>
                </a:solidFill>
                <a:latin typeface="Helvetica Neue"/>
              </a:rPr>
              <a:t>: regenerate targets under the fixed-era rule (Thomas)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057400"/>
            <a:ext cx="323850" cy="323850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2038350"/>
            <a:ext cx="103251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82B49"/>
                </a:solidFill>
                <a:latin typeface="Helvetica Neue"/>
              </a:rPr>
              <a:t>Group-aware decoding</a:t>
            </a:r>
            <a:r>
              <a:rPr sz="1700" b="0" i="0">
                <a:solidFill>
                  <a:srgbClr val="222C3A"/>
                </a:solidFill>
                <a:latin typeface="Helvetica Neue"/>
              </a:rPr>
              <a:t>: recovers 17.4% on our *current* data too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571750"/>
            <a:ext cx="323850" cy="323850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2552700"/>
            <a:ext cx="103251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82B49"/>
                </a:solidFill>
                <a:latin typeface="Helvetica Neue"/>
              </a:rPr>
              <a:t>The ≥3n-jet cut</a:t>
            </a:r>
            <a:r>
              <a:rPr sz="1700" b="0" i="0">
                <a:solidFill>
                  <a:srgbClr val="222C3A"/>
                </a:solidFill>
                <a:latin typeface="Helvetica Neue"/>
              </a:rPr>
              <a:t>: 13.6% acceptance dominates four-top event economy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086100"/>
            <a:ext cx="323850" cy="323850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3067050"/>
            <a:ext cx="103251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82B49"/>
                </a:solidFill>
                <a:latin typeface="Helvetica Neue"/>
              </a:rPr>
              <a:t>Selection variable</a:t>
            </a:r>
            <a:r>
              <a:rPr sz="1700" b="0" i="0">
                <a:solidFill>
                  <a:srgbClr val="222C3A"/>
                </a:solidFill>
                <a:latin typeface="Helvetica Neue"/>
              </a:rPr>
              <a:t>: switch pipeline from detection to marginal probability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600450"/>
            <a:ext cx="323850" cy="323850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100" y="3581400"/>
            <a:ext cx="103251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82B49"/>
                </a:solidFill>
                <a:latin typeface="Helvetica Neue"/>
              </a:rPr>
              <a:t>tttt next step</a:t>
            </a:r>
            <a:r>
              <a:rPr sz="1700" b="0" i="0">
                <a:solidFill>
                  <a:srgbClr val="222C3A"/>
                </a:solidFill>
                <a:latin typeface="Helvetica Neue"/>
              </a:rPr>
              <a:t>: dedicated sweep, more statistics, or both?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ms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419100"/>
            <a:ext cx="1181100" cy="1181100"/>
          </a:xfrm>
          <a:prstGeom prst="rect">
            <a:avLst/>
          </a:prstGeom>
        </p:spPr>
      </p:pic>
      <p:pic>
        <p:nvPicPr>
          <p:cNvPr id="4" name="Picture 3" descr="ucsd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275" y="685800"/>
            <a:ext cx="3400425" cy="647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857500"/>
            <a:ext cx="12192000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700" b="1" i="0">
                <a:solidFill>
                  <a:srgbClr val="FFFFFF"/>
                </a:solidFill>
                <a:latin typeface="Helvetica Neue"/>
              </a:rPr>
              <a:t>Backup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7350" y="3905250"/>
            <a:ext cx="1257300" cy="57150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Training curves: a higher plateau, not a faster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15</a:t>
            </a:r>
          </a:p>
        </p:txBody>
      </p:sp>
      <p:pic>
        <p:nvPicPr>
          <p:cNvPr id="9" name="Picture 8" descr="convergence_bo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966" y="1543050"/>
            <a:ext cx="3796067" cy="419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753100"/>
            <a:ext cx="108204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7A8A"/>
                </a:solidFill>
                <a:latin typeface="Helvetica Neue"/>
              </a:rPr>
              <a:t>Top: t̄t sweep winners. Bottom: four tops at 1.63 M events.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Four-top semi-resolved and boosted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16</a:t>
            </a:r>
          </a:p>
        </p:txBody>
      </p:sp>
      <p:pic>
        <p:nvPicPr>
          <p:cNvPr id="9" name="Picture 8" descr="tttt_pt_qq_boos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13" y="1543050"/>
            <a:ext cx="6191373" cy="419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753100"/>
            <a:ext cx="108204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7A8A"/>
                </a:solidFill>
                <a:latin typeface="Helvetica Neue"/>
              </a:rPr>
              <a:t>Top: semi-resolved qq. Bottom: boosted.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How we built the four-top sample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668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450" y="15049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Card → MadGraph → Delphes → converter → gate → SPANet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050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3450" y="19431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Group converter used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unmodified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 at </a:t>
            </a:r>
            <a:r>
              <a:rPr sz="1656" b="0" i="0">
                <a:solidFill>
                  <a:srgbClr val="222C3A"/>
                </a:solidFill>
                <a:latin typeface="Consolas"/>
              </a:rPr>
              <a:t>--n-tops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5431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450" y="23812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15 M events generated: 750 shards,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zero failures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, ~6 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813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450" y="28194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82B49"/>
                </a:solidFill>
                <a:latin typeface="Helvetica Neue"/>
              </a:rPr>
              <a:t>1.63 M train / 408 k test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, label gate 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429250"/>
            <a:ext cx="10820400" cy="628650"/>
          </a:xfrm>
          <a:prstGeom prst="rect">
            <a:avLst/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5429250"/>
            <a:ext cx="47625" cy="628650"/>
          </a:xfrm>
          <a:prstGeom prst="rect">
            <a:avLst/>
          </a:prstGeom>
          <a:solidFill>
            <a:srgbClr val="006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50" y="5543550"/>
            <a:ext cx="1040130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222C3A"/>
                </a:solidFill>
                <a:latin typeface="Helvetica Neue"/>
              </a:rPr>
              <a:t>Check physics of the four-top simulations (Tommy?)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Caveats, stated up front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668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450" y="15049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82B49"/>
                </a:solidFill>
                <a:latin typeface="Helvetica Neue"/>
              </a:rPr>
              <a:t>One run per arm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 everywhere, no seed variance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050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3450" y="19431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tttt used t̄t-derived hyperparameters, 15 epochs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5431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450" y="23812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tttt group curves on a 100 k-event subsample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813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450" y="28194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Delphes level throughout, no pile-up or detector realism claims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Pipeline defects found this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668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450" y="15049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v6 </a:t>
            </a:r>
            <a:r>
              <a:rPr sz="1656" b="0" i="0">
                <a:solidFill>
                  <a:srgbClr val="222C3A"/>
                </a:solidFill>
                <a:latin typeface="Consolas"/>
              </a:rPr>
              <a:t>deltaRfj</a:t>
            </a:r>
            <a:r>
              <a:rPr sz="1800" b="0" i="0">
                <a:solidFill>
                  <a:srgbClr val="222C3A"/>
                </a:solidFill>
                <a:latin typeface="Helvetica Neue"/>
              </a:rPr>
              <a:t> written with the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pre-cleaning row 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050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3450" y="19431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One structurally invalid SRqqt2 target, killed five runs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5431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450" y="23812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Train/test split keyed on a </a:t>
            </a:r>
            <a:r>
              <a:rPr sz="1800" b="1" i="0">
                <a:solidFill>
                  <a:srgbClr val="182B49"/>
                </a:solidFill>
                <a:latin typeface="Helvetica Neue"/>
              </a:rPr>
              <a:t>filename substring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813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450" y="28194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Pythia card has no trailing newline, appends silently lost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m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112" y="247650"/>
            <a:ext cx="571500" cy="571500"/>
          </a:xfrm>
          <a:prstGeom prst="rect">
            <a:avLst/>
          </a:prstGeom>
        </p:spPr>
      </p:pic>
      <p:pic>
        <p:nvPicPr>
          <p:cNvPr id="3" name="Picture 2" descr="ucs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62" y="352425"/>
            <a:ext cx="1900237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78105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 i="0">
                <a:solidFill>
                  <a:srgbClr val="182B49"/>
                </a:solidFill>
                <a:latin typeface="Helvetica Neue"/>
              </a:rPr>
              <a:t>Where everything lives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3500"/>
            <a:ext cx="990600" cy="4762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86500"/>
            <a:ext cx="85725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6E7A8A"/>
                </a:solidFill>
                <a:latin typeface="Helvetica Neue"/>
              </a:rPr>
              <a:t>SPAtop Update · 13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200" y="6286500"/>
            <a:ext cx="1143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E7A8A"/>
                </a:solidFill>
                <a:latin typeface="Helvetica Neue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668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450" y="15049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Data: </a:t>
            </a:r>
            <a:r>
              <a:rPr sz="1656" b="0" i="0">
                <a:solidFill>
                  <a:srgbClr val="222C3A"/>
                </a:solidFill>
                <a:latin typeface="Consolas"/>
              </a:rPr>
              <a:t>/data/spatop/{tttt_15M, delphes_v6, tttt_pilot}/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050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3450" y="19431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Code, jobs, figures: branch </a:t>
            </a:r>
            <a:r>
              <a:rPr sz="1656" b="0" i="0">
                <a:solidFill>
                  <a:srgbClr val="222C3A"/>
                </a:solidFill>
                <a:latin typeface="Consolas"/>
              </a:rPr>
              <a:t>claude/great-curie-12c321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54317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450" y="238125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Forensics: </a:t>
            </a:r>
            <a:r>
              <a:rPr sz="1656" b="0" i="0">
                <a:solidFill>
                  <a:srgbClr val="222C3A"/>
                </a:solidFill>
                <a:latin typeface="Consolas"/>
              </a:rPr>
              <a:t>reports/v6_srqq_bug_report.md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81325"/>
            <a:ext cx="104775" cy="28575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450" y="2819400"/>
            <a:ext cx="105727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C3A"/>
                </a:solidFill>
                <a:latin typeface="Helvetica Neue"/>
              </a:rPr>
              <a:t>Generation recipe: </a:t>
            </a:r>
            <a:r>
              <a:rPr sz="1656" b="0" i="0">
                <a:solidFill>
                  <a:srgbClr val="222C3A"/>
                </a:solidFill>
                <a:latin typeface="Consolas"/>
              </a:rPr>
              <a:t>simulation/tttt/README.md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